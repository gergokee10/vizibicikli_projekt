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3E5"/>
    <a:srgbClr val="2124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9160C3-1811-48E8-B4E4-AE29BA3B731B}" v="896" dt="2026-09-27T17:10:56.8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27/09/2026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4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>
                <a:solidFill>
                  <a:srgbClr val="E0E3E5"/>
                </a:solidFill>
              </a:rPr>
              <a:t>Vízibicikli</a:t>
            </a:r>
            <a:r>
              <a:rPr lang="en-GB" dirty="0">
                <a:solidFill>
                  <a:srgbClr val="E0E3E5"/>
                </a:solidFill>
              </a:rPr>
              <a:t> </a:t>
            </a:r>
            <a:r>
              <a:rPr lang="en-GB" dirty="0" err="1">
                <a:solidFill>
                  <a:srgbClr val="E0E3E5"/>
                </a:solidFill>
              </a:rPr>
              <a:t>kölcsönző</a:t>
            </a:r>
            <a:endParaRPr lang="en-GB" dirty="0">
              <a:solidFill>
                <a:srgbClr val="E0E3E5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113B3F-28E0-8F5C-1D9C-23414FFBD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4382" y="3682428"/>
            <a:ext cx="8403236" cy="723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6DBF50F6-DD88-4D9F-B7D3-79B989980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16BBDC2-6929-469E-B7C4-A03E77BF9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882C81-E4C4-BDF6-5CA7-591B3E504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2409" y="3938715"/>
            <a:ext cx="3034998" cy="19936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chemeClr val="tx2"/>
                </a:solidFill>
              </a:rPr>
              <a:t>A </a:t>
            </a:r>
            <a:r>
              <a:rPr lang="en-US" sz="4000" dirty="0" err="1">
                <a:solidFill>
                  <a:schemeClr val="tx2"/>
                </a:solidFill>
              </a:rPr>
              <a:t>képek</a:t>
            </a:r>
            <a:r>
              <a:rPr lang="en-US" sz="4000" dirty="0">
                <a:solidFill>
                  <a:schemeClr val="tx2"/>
                </a:solidFill>
              </a:rPr>
              <a:t>:</a:t>
            </a:r>
            <a:endParaRPr lang="en-US" sz="4000" kern="1200" dirty="0">
              <a:solidFill>
                <a:schemeClr val="tx2"/>
              </a:solidFill>
              <a:latin typeface="+mj-lt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C344E6B5-C9F5-4338-9E33-003B12373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 flipH="1">
            <a:off x="-176402" y="170309"/>
            <a:ext cx="2514948" cy="2174333"/>
            <a:chOff x="-305" y="-4155"/>
            <a:chExt cx="2514948" cy="2174333"/>
          </a:xfrm>
        </p:grpSpPr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C90B0F8D-9E81-4DE8-95D5-1A26E9390D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830BA43A-83E9-4C67-92A6-F247FB370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2F3A0CC-EBFE-405D-B0C0-27DE361ED5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DF2E853E-B55A-4FFD-B90E-6FB4F31BD5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D056011-D9BD-961F-C204-11077D23C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27" b="10388"/>
          <a:stretch>
            <a:fillRect/>
          </a:stretch>
        </p:blipFill>
        <p:spPr>
          <a:xfrm>
            <a:off x="818048" y="753455"/>
            <a:ext cx="10555905" cy="2968823"/>
          </a:xfrm>
          <a:prstGeom prst="rect">
            <a:avLst/>
          </a:prstGeom>
        </p:spPr>
      </p:pic>
      <p:grpSp>
        <p:nvGrpSpPr>
          <p:cNvPr id="82" name="Group 81">
            <a:extLst>
              <a:ext uri="{FF2B5EF4-FFF2-40B4-BE49-F238E27FC236}">
                <a16:creationId xmlns:a16="http://schemas.microsoft.com/office/drawing/2014/main" id="{FDFEDBF7-8E2C-46B8-9095-AE1D77E217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130554" y="4560733"/>
            <a:ext cx="3061445" cy="2297266"/>
            <a:chOff x="-305" y="-1"/>
            <a:chExt cx="3832880" cy="2876136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60202872-FBB0-4F11-BC49-9FB400B212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0DEB2F40-D411-4D44-9638-AE0342C7F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507F7D91-A991-4196-AF73-327E04B562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178739A9-E67C-40E5-9468-0A68AEC54E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070195-6D33-48D4-D5C5-AD0BB69D1F52}"/>
              </a:ext>
            </a:extLst>
          </p:cNvPr>
          <p:cNvSpPr txBox="1"/>
          <p:nvPr/>
        </p:nvSpPr>
        <p:spPr>
          <a:xfrm>
            <a:off x="6095999" y="4237290"/>
            <a:ext cx="3874093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dirty="0"/>
              <a:t>Az </a:t>
            </a:r>
            <a:r>
              <a:rPr lang="en-GB" dirty="0" err="1"/>
              <a:t>oldalon</a:t>
            </a:r>
            <a:r>
              <a:rPr lang="en-GB" dirty="0"/>
              <a:t> </a:t>
            </a:r>
            <a:r>
              <a:rPr lang="en-GB" dirty="0" err="1"/>
              <a:t>szinte</a:t>
            </a:r>
            <a:r>
              <a:rPr lang="en-GB" dirty="0"/>
              <a:t> </a:t>
            </a:r>
            <a:r>
              <a:rPr lang="en-GB" dirty="0" err="1"/>
              <a:t>az</a:t>
            </a:r>
            <a:r>
              <a:rPr lang="en-GB" dirty="0"/>
              <a:t> </a:t>
            </a:r>
            <a:r>
              <a:rPr lang="en-GB" dirty="0" err="1"/>
              <a:t>első</a:t>
            </a:r>
            <a:r>
              <a:rPr lang="en-GB" dirty="0"/>
              <a:t> </a:t>
            </a:r>
            <a:r>
              <a:rPr lang="en-GB" dirty="0" err="1"/>
              <a:t>dolog</a:t>
            </a:r>
            <a:r>
              <a:rPr lang="en-GB" dirty="0"/>
              <a:t> </a:t>
            </a:r>
            <a:r>
              <a:rPr lang="en-GB" dirty="0" err="1"/>
              <a:t>amit</a:t>
            </a:r>
            <a:r>
              <a:rPr lang="en-GB" dirty="0"/>
              <a:t> </a:t>
            </a:r>
            <a:r>
              <a:rPr lang="en-GB" dirty="0" err="1"/>
              <a:t>észreveszel</a:t>
            </a:r>
            <a:r>
              <a:rPr lang="en-GB" dirty="0"/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GB" dirty="0"/>
              <a:t>3 </a:t>
            </a:r>
            <a:r>
              <a:rPr lang="en-GB" dirty="0" err="1"/>
              <a:t>váltakozó</a:t>
            </a:r>
            <a:r>
              <a:rPr lang="en-GB" dirty="0"/>
              <a:t> </a:t>
            </a:r>
            <a:r>
              <a:rPr lang="en-GB" dirty="0" err="1"/>
              <a:t>és</a:t>
            </a:r>
            <a:r>
              <a:rPr lang="en-GB" dirty="0"/>
              <a:t> </a:t>
            </a:r>
            <a:r>
              <a:rPr lang="en-GB" dirty="0" err="1"/>
              <a:t>lapozható</a:t>
            </a:r>
            <a:r>
              <a:rPr lang="en-GB" dirty="0"/>
              <a:t> </a:t>
            </a:r>
            <a:r>
              <a:rPr lang="en-GB" dirty="0" err="1"/>
              <a:t>kép</a:t>
            </a:r>
            <a:r>
              <a:rPr lang="en-GB" dirty="0"/>
              <a:t> </a:t>
            </a:r>
            <a:r>
              <a:rPr lang="en-GB" dirty="0" err="1"/>
              <a:t>egy</a:t>
            </a:r>
            <a:r>
              <a:rPr lang="en-GB" dirty="0"/>
              <a:t> </a:t>
            </a:r>
            <a:r>
              <a:rPr lang="en-GB" dirty="0" err="1"/>
              <a:t>kis</a:t>
            </a:r>
            <a:r>
              <a:rPr lang="en-GB" dirty="0"/>
              <a:t> </a:t>
            </a:r>
            <a:r>
              <a:rPr lang="en-GB" dirty="0" err="1"/>
              <a:t>leírással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701080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3B067F-3154-4968-A886-DF93A787E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7583D6C-C05B-47AB-8540-B2700B82A4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6501AD91-D973-4968-95E4-4C26CFDF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5C165989-F5FE-4BB6-9817-E7828CB1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B0649CC-B912-4E82-BEA0-DA75ECB19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6BA08C17-C9A5-4FA8-ABC4-44FB3B869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70DEAC6C-553C-437E-BC17-D4495233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Rectangle 58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0FFF31-E3B6-35A7-24A1-61B367E5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4018137"/>
            <a:ext cx="5071221" cy="2129586"/>
          </a:xfrm>
          <a:noFill/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8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 </a:t>
            </a:r>
            <a:r>
              <a:rPr lang="en-US" sz="4800" dirty="0">
                <a:solidFill>
                  <a:schemeClr val="bg1"/>
                </a:solidFill>
              </a:rPr>
              <a:t>nav </a:t>
            </a:r>
            <a:r>
              <a:rPr lang="en-US" sz="4800" dirty="0" err="1">
                <a:solidFill>
                  <a:schemeClr val="bg1"/>
                </a:solidFill>
              </a:rPr>
              <a:t>menü</a:t>
            </a:r>
            <a:r>
              <a:rPr lang="en-US" sz="48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: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116658F-1C6B-0482-E187-10509FF62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59" y="1518496"/>
            <a:ext cx="10843065" cy="1463814"/>
          </a:xfrm>
          <a:prstGeom prst="rect">
            <a:avLst/>
          </a:prstGeom>
        </p:spPr>
      </p:pic>
      <p:grpSp>
        <p:nvGrpSpPr>
          <p:cNvPr id="75" name="Group 74">
            <a:extLst>
              <a:ext uri="{FF2B5EF4-FFF2-40B4-BE49-F238E27FC236}">
                <a16:creationId xmlns:a16="http://schemas.microsoft.com/office/drawing/2014/main" id="{1F4E1649-4D1F-4A91-AF97-A254BFDD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2" y="776904"/>
            <a:ext cx="304800" cy="429768"/>
            <a:chOff x="215328" y="-46937"/>
            <a:chExt cx="304800" cy="2773841"/>
          </a:xfrm>
        </p:grpSpPr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E483602-62F9-474D-9C9B-5EE4CD767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D7D1AC0-A6C7-40E3-9841-F34AC831A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F951C4DD-7427-497D-9DE3-9D731D3F4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0EE18298-0BF5-4D7A-921A-2F4186E8D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1" name="Oval 80">
            <a:extLst>
              <a:ext uri="{FF2B5EF4-FFF2-40B4-BE49-F238E27FC236}">
                <a16:creationId xmlns:a16="http://schemas.microsoft.com/office/drawing/2014/main" id="{773AEA78-C03B-40B7-9D11-DC022119D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600000">
            <a:off x="10150845" y="4270841"/>
            <a:ext cx="1897885" cy="1897885"/>
          </a:xfrm>
          <a:prstGeom prst="ellipse">
            <a:avLst/>
          </a:prstGeom>
          <a:gradFill>
            <a:gsLst>
              <a:gs pos="0">
                <a:schemeClr val="tx2">
                  <a:lumMod val="75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1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B371F1-FCA7-E156-B703-E64B7C2050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5304" y="4018143"/>
            <a:ext cx="5549111" cy="2129599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 </a:t>
            </a:r>
            <a:r>
              <a:rPr lang="en-US" sz="1800" dirty="0">
                <a:solidFill>
                  <a:schemeClr val="bg1"/>
                </a:solidFill>
              </a:rPr>
              <a:t>nav </a:t>
            </a:r>
            <a:r>
              <a:rPr lang="en-US" sz="1800" dirty="0" err="1">
                <a:solidFill>
                  <a:schemeClr val="bg1"/>
                </a:solidFill>
              </a:rPr>
              <a:t>menüben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találhatóak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oldal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különböző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részeihez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 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hivatkozások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valamint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egy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gomb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a </a:t>
            </a:r>
            <a:r>
              <a:rPr lang="en-US" sz="18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foglaláshoz</a:t>
            </a:r>
            <a:r>
              <a:rPr lang="en-US" sz="18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14187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23D09407-53BC-485E-B4CE-BC5E4FC4B2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21DB988-49FC-4608-B0A2-E2F3A4019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F24E074-CE8F-48F3-B307-52A8C61FA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903" y="3399769"/>
            <a:ext cx="10640754" cy="77584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 szolgáltatások: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AFE260-D088-3682-E0B8-1F366201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4121" y="4171528"/>
            <a:ext cx="9163757" cy="4504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1700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Ezen a részen 8 kártya található, amiken felsoroljuk a szolgáltatásaink különböző típusait.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9B930FD-8671-4C4C-ADCF-73AC1D0CD4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9676747" y="0"/>
            <a:ext cx="2514948" cy="2174333"/>
            <a:chOff x="-305" y="-4155"/>
            <a:chExt cx="2514948" cy="217433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C35B12C1-569C-4E37-AA33-7EF215F201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F23E2660-7810-46F6-8752-187127C830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C991DC45-0378-45B3-B325-FB8F98545E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E228F5BA-5150-4554-B7EA-93F371F3B1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C630970-4185-BEE7-C7BA-2E5C2FF167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81" b="2062"/>
          <a:stretch>
            <a:fillRect/>
          </a:stretch>
        </p:blipFill>
        <p:spPr>
          <a:xfrm>
            <a:off x="1725999" y="320231"/>
            <a:ext cx="8678549" cy="283656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383C2651-AE0C-4AE4-8725-E2F9414FE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-305" y="4322879"/>
            <a:ext cx="3378428" cy="2535121"/>
            <a:chOff x="-305" y="-1"/>
            <a:chExt cx="3832880" cy="2876136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CE13265-B5D2-47B4-A199-E05F390D5B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93EBD03-D832-462C-9304-7273698ED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D53D3E2-805E-40D2-964F-352BF6D476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7A9A916-A926-43E6-800F-432ABC3F24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5742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ED4ADB3-C6E5-44F4-960B-D8CDEC8E8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A542E6-1924-4FE2-89D1-3CB19468C1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F353183-2147-472B-AD7D-4A085FF6A4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AAA42C8-A082-4DFD-A5F3-FC9EF825B1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E46B98A5-2874-4160-A801-37F774304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0862" y="549276"/>
            <a:ext cx="7200149" cy="57594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F7835A-6DFF-F16A-C7FB-68DC77CF3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613" y="1018724"/>
            <a:ext cx="6115890" cy="539750"/>
          </a:xfrm>
        </p:spPr>
        <p:txBody>
          <a:bodyPr>
            <a:normAutofit/>
          </a:bodyPr>
          <a:lstStyle/>
          <a:p>
            <a:r>
              <a:rPr lang="en-GB" sz="2200" dirty="0"/>
              <a:t>A </a:t>
            </a:r>
            <a:r>
              <a:rPr lang="en-GB" sz="2200" dirty="0" err="1"/>
              <a:t>vélemények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DDE79B-A5E7-4416-9FDF-A11E38510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0863" y="1846203"/>
            <a:ext cx="7200900" cy="4462522"/>
            <a:chOff x="4656138" y="0"/>
            <a:chExt cx="6983409" cy="630872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DBB2F20-9E4E-43B2-86CD-7D76C57444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4656138" y="0"/>
              <a:ext cx="6982794" cy="63087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F981160-1756-4176-9381-12ED4B531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4656138" y="0"/>
              <a:ext cx="6983409" cy="6308725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18D65E0-26C5-4911-8E24-AF1E27F81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4656138" y="0"/>
              <a:ext cx="6983409" cy="6308725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C47371C-D5A3-5C66-72D0-FE2578BA6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63" y="2571702"/>
            <a:ext cx="6840900" cy="3009995"/>
          </a:xfrm>
          <a:prstGeom prst="rect">
            <a:avLst/>
          </a:prstGeom>
          <a:effectLst/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E435108-27F5-40B3-0757-AA75DC450B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98770" y="2059200"/>
            <a:ext cx="3506162" cy="3783015"/>
          </a:xfrm>
        </p:spPr>
        <p:txBody>
          <a:bodyPr anchor="t">
            <a:normAutofit/>
          </a:bodyPr>
          <a:lstStyle/>
          <a:p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Itt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vannak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kitűzve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az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oldalunkra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néhány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vendégünk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 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élményei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 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és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 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véleményei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a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kölcsönzéssel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kapcsolatban</a:t>
            </a:r>
          </a:p>
        </p:txBody>
      </p:sp>
    </p:spTree>
    <p:extLst>
      <p:ext uri="{BB962C8B-B14F-4D97-AF65-F5344CB8AC3E}">
        <p14:creationId xmlns:p14="http://schemas.microsoft.com/office/powerpoint/2010/main" val="3825932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ED4ADB3-C6E5-44F4-960B-D8CDEC8E8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A542E6-1924-4FE2-89D1-3CB19468C1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F353183-2147-472B-AD7D-4A085FF6A4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AAA42C8-A082-4DFD-A5F3-FC9EF825B1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E46B98A5-2874-4160-A801-37F774304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0862" y="549276"/>
            <a:ext cx="7200149" cy="57594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BA67C1-B443-1477-2A60-0BBD0CEEA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613" y="1018724"/>
            <a:ext cx="6115890" cy="539750"/>
          </a:xfrm>
        </p:spPr>
        <p:txBody>
          <a:bodyPr>
            <a:normAutofit/>
          </a:bodyPr>
          <a:lstStyle/>
          <a:p>
            <a:r>
              <a:rPr lang="en-GB" sz="2200" dirty="0" err="1"/>
              <a:t>Elérhetőség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DDE79B-A5E7-4416-9FDF-A11E38510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0863" y="1846203"/>
            <a:ext cx="7200900" cy="4462522"/>
            <a:chOff x="4656138" y="0"/>
            <a:chExt cx="6983409" cy="630872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DBB2F20-9E4E-43B2-86CD-7D76C57444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4656138" y="0"/>
              <a:ext cx="6982794" cy="63087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F981160-1756-4176-9381-12ED4B531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4656138" y="0"/>
              <a:ext cx="6983409" cy="6308725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18D65E0-26C5-4911-8E24-AF1E27F81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4656138" y="0"/>
              <a:ext cx="6983409" cy="6308725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8851271-B0C6-E625-7969-7A485BEE82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63" y="2999258"/>
            <a:ext cx="6840900" cy="2154884"/>
          </a:xfrm>
          <a:prstGeom prst="rect">
            <a:avLst/>
          </a:prstGeom>
          <a:effectLst/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C7C160-6325-23D7-8DE9-979406978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98770" y="2059200"/>
            <a:ext cx="3463433" cy="3783015"/>
          </a:xfrm>
        </p:spPr>
        <p:txBody>
          <a:bodyPr anchor="t">
            <a:normAutofit/>
          </a:bodyPr>
          <a:lstStyle/>
          <a:p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A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strandunk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helyszíne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és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elérhetőségeink</a:t>
            </a:r>
            <a:r>
              <a:rPr lang="en-US" sz="2000" dirty="0">
                <a:solidFill>
                  <a:schemeClr val="tx1">
                    <a:alpha val="6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alpha val="60000"/>
                  </a:schemeClr>
                </a:solidFill>
              </a:rPr>
              <a:t>módszerei</a:t>
            </a:r>
          </a:p>
        </p:txBody>
      </p:sp>
    </p:spTree>
    <p:extLst>
      <p:ext uri="{BB962C8B-B14F-4D97-AF65-F5344CB8AC3E}">
        <p14:creationId xmlns:p14="http://schemas.microsoft.com/office/powerpoint/2010/main" val="177866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D7B6173-1D58-48E2-83CF-37350F31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EBFA83-D4DB-4CA0-B229-9E44634D7F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DAC8FB-A162-44E3-A606-C855A03A5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1BDEC81-16A7-4451-B893-C15000083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A515A1-4D80-430E-BE0A-71A290516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542" y="729175"/>
            <a:ext cx="11099352" cy="5399650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2C28B0-DAC9-0959-A742-2977B2045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7016" y="905011"/>
            <a:ext cx="4589328" cy="1889135"/>
          </a:xfrm>
        </p:spPr>
        <p:txBody>
          <a:bodyPr anchor="b">
            <a:normAutofit/>
          </a:bodyPr>
          <a:lstStyle/>
          <a:p>
            <a:r>
              <a:rPr lang="en-GB" sz="4800" dirty="0"/>
              <a:t>A </a:t>
            </a:r>
            <a:r>
              <a:rPr lang="en-GB" sz="4800" dirty="0" err="1"/>
              <a:t>Foglalási</a:t>
            </a:r>
            <a:r>
              <a:rPr lang="en-GB" sz="4800" dirty="0"/>
              <a:t> </a:t>
            </a:r>
            <a:r>
              <a:rPr lang="en-GB" sz="4800" dirty="0" err="1"/>
              <a:t>Űrlap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86CCD8E-7D8C-F1EE-FF94-3C62782C8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544" y="895610"/>
            <a:ext cx="5380872" cy="5058020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9939720-BA58-1CD7-6780-CFFAA4F62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7016" y="2965592"/>
            <a:ext cx="4589328" cy="298739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dirty="0"/>
              <a:t>Ezen </a:t>
            </a:r>
            <a:r>
              <a:rPr lang="en-US" sz="1800" dirty="0" err="1"/>
              <a:t>az</a:t>
            </a:r>
            <a:r>
              <a:rPr lang="en-US" sz="1800" dirty="0"/>
              <a:t> </a:t>
            </a:r>
            <a:r>
              <a:rPr lang="en-US" sz="1800" dirty="0" err="1"/>
              <a:t>űrlapon</a:t>
            </a:r>
            <a:r>
              <a:rPr lang="en-US" sz="1800" dirty="0"/>
              <a:t> </a:t>
            </a:r>
            <a:r>
              <a:rPr lang="en-US" sz="1800" dirty="0" err="1"/>
              <a:t>tudják</a:t>
            </a:r>
            <a:r>
              <a:rPr lang="en-US" sz="1800" dirty="0"/>
              <a:t> </a:t>
            </a:r>
            <a:r>
              <a:rPr lang="en-US" sz="1800" dirty="0" err="1"/>
              <a:t>vendégeink</a:t>
            </a:r>
            <a:r>
              <a:rPr lang="en-US" sz="1800" dirty="0"/>
              <a:t> </a:t>
            </a:r>
            <a:r>
              <a:rPr lang="en-US" sz="1800" dirty="0" err="1"/>
              <a:t>foglalási</a:t>
            </a:r>
            <a:r>
              <a:rPr lang="en-US" sz="1800" dirty="0"/>
              <a:t> </a:t>
            </a:r>
            <a:r>
              <a:rPr lang="en-US" sz="1800" dirty="0" err="1"/>
              <a:t>igényeiket</a:t>
            </a:r>
            <a:r>
              <a:rPr lang="en-US" sz="1800" dirty="0"/>
              <a:t> </a:t>
            </a:r>
            <a:r>
              <a:rPr lang="en-US" sz="1800" dirty="0" err="1"/>
              <a:t>benyújtani</a:t>
            </a:r>
            <a:r>
              <a:rPr lang="en-US" sz="1800" dirty="0"/>
              <a:t> </a:t>
            </a:r>
            <a:r>
              <a:rPr lang="en-US" sz="1800" dirty="0" err="1"/>
              <a:t>nekünk</a:t>
            </a:r>
            <a:r>
              <a:rPr lang="en-US" sz="1800" dirty="0"/>
              <a:t>.</a:t>
            </a:r>
          </a:p>
          <a:p>
            <a:r>
              <a:rPr lang="en-US" sz="1800" dirty="0"/>
              <a:t>Miután </a:t>
            </a:r>
            <a:r>
              <a:rPr lang="en-US" sz="1800" dirty="0" err="1"/>
              <a:t>megkaptuk</a:t>
            </a:r>
            <a:r>
              <a:rPr lang="en-US" sz="1800" dirty="0"/>
              <a:t> a </a:t>
            </a:r>
            <a:r>
              <a:rPr lang="en-US" sz="1800" dirty="0" err="1"/>
              <a:t>foglalást</a:t>
            </a:r>
            <a:r>
              <a:rPr lang="en-US" sz="1800" dirty="0"/>
              <a:t> </a:t>
            </a:r>
            <a:r>
              <a:rPr lang="en-US" sz="1800" dirty="0" err="1"/>
              <a:t>emailben</a:t>
            </a:r>
            <a:r>
              <a:rPr lang="en-US" sz="1800" dirty="0"/>
              <a:t> </a:t>
            </a:r>
            <a:r>
              <a:rPr lang="en-US" sz="1800" dirty="0" err="1"/>
              <a:t>válaszolunk</a:t>
            </a:r>
            <a:r>
              <a:rPr lang="en-US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402106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40446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9D3F6-FFDC-3FB6-DCED-15AC2D0BA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Foglalás sikeressége</a:t>
            </a:r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3D1FEC3-B740-3D7D-5BB2-716F16A0A9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24357" y="229518"/>
            <a:ext cx="7188199" cy="35042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491F49-120D-40CC-8319-2A5B0959A746}"/>
              </a:ext>
            </a:extLst>
          </p:cNvPr>
          <p:cNvSpPr txBox="1"/>
          <p:nvPr/>
        </p:nvSpPr>
        <p:spPr>
          <a:xfrm>
            <a:off x="4080616" y="3952430"/>
            <a:ext cx="70716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dirty="0"/>
              <a:t>A </a:t>
            </a:r>
            <a:r>
              <a:rPr lang="en-GB" dirty="0" err="1"/>
              <a:t>foglalás</a:t>
            </a:r>
            <a:r>
              <a:rPr lang="en-GB" dirty="0"/>
              <a:t> </a:t>
            </a:r>
            <a:r>
              <a:rPr lang="en-GB" dirty="0" err="1"/>
              <a:t>elküldése</a:t>
            </a:r>
            <a:r>
              <a:rPr lang="en-GB" dirty="0"/>
              <a:t> </a:t>
            </a:r>
            <a:r>
              <a:rPr lang="en-GB" dirty="0" err="1"/>
              <a:t>után</a:t>
            </a:r>
            <a:r>
              <a:rPr lang="en-GB" dirty="0"/>
              <a:t> </a:t>
            </a:r>
            <a:r>
              <a:rPr lang="en-GB" dirty="0" err="1"/>
              <a:t>egy</a:t>
            </a:r>
            <a:r>
              <a:rPr lang="en-GB" dirty="0"/>
              <a:t> </a:t>
            </a:r>
            <a:r>
              <a:rPr lang="en-GB" dirty="0" err="1"/>
              <a:t>visszaigazolás</a:t>
            </a:r>
            <a:r>
              <a:rPr lang="en-GB" dirty="0"/>
              <a:t> a </a:t>
            </a:r>
            <a:r>
              <a:rPr lang="en-GB" dirty="0" err="1"/>
              <a:t>sikerességről</a:t>
            </a:r>
            <a:r>
              <a:rPr lang="en-GB" dirty="0"/>
              <a:t>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477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1F77B6A-7F53-4B28-B73D-C8CC899AB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6A1658-CDF8-4D56-DADF-E5D1F2FE2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26578" y="685680"/>
            <a:ext cx="4203323" cy="3596201"/>
          </a:xfrm>
        </p:spPr>
        <p:txBody>
          <a:bodyPr>
            <a:normAutofit/>
          </a:bodyPr>
          <a:lstStyle/>
          <a:p>
            <a:pPr algn="r"/>
            <a:r>
              <a:rPr lang="en-GB" sz="5400" dirty="0" err="1">
                <a:solidFill>
                  <a:schemeClr val="bg1"/>
                </a:solidFill>
              </a:rPr>
              <a:t>Köszönjük</a:t>
            </a:r>
            <a:r>
              <a:rPr lang="en-GB" sz="5400" dirty="0">
                <a:solidFill>
                  <a:schemeClr val="bg1"/>
                </a:solidFill>
              </a:rPr>
              <a:t> a </a:t>
            </a:r>
            <a:r>
              <a:rPr lang="en-GB" sz="5400" dirty="0" err="1">
                <a:solidFill>
                  <a:schemeClr val="bg1"/>
                </a:solidFill>
              </a:rPr>
              <a:t>figyelmet</a:t>
            </a:r>
            <a:r>
              <a:rPr lang="en-GB" sz="5400" dirty="0">
                <a:solidFill>
                  <a:schemeClr val="bg1"/>
                </a:solidFill>
              </a:rPr>
              <a:t>!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515629F-0D83-4A44-A125-CD50FC660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08013" y="1361348"/>
            <a:ext cx="4833902" cy="4258176"/>
            <a:chOff x="1674895" y="1345036"/>
            <a:chExt cx="5428610" cy="421093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1A5080B-EAC4-4530-815C-DE8DACA09D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4667345-04B5-4757-9CE0-969DC1DE5E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6E412EF-CF39-4C25-85B0-DB30B1B0A8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580033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8DA6235-17F2-4C9E-88C6-C5D38D8D3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768"/>
            <a:ext cx="1861854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5DEF71-1741-4489-8E77-46FC5BAA6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69494" y="1220741"/>
            <a:ext cx="4833901" cy="4258176"/>
          </a:xfrm>
          <a:prstGeom prst="rect">
            <a:avLst/>
          </a:prstGeom>
          <a:solidFill>
            <a:schemeClr val="tx1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2347B6D-A7CC-48EB-861F-917D0D61E3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69494" y="1220741"/>
            <a:ext cx="4833901" cy="4258176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7A0A46D-CC9B-4E32-870A-7BC2DF940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7284" y="4357092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178722E-1BD0-427E-BAAE-4F206DAB58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7284" y="4357092"/>
            <a:ext cx="319941" cy="31994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678478-0D5D-D89F-F6C4-BD2E11B55F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022" y="1586802"/>
            <a:ext cx="4172845" cy="3526053"/>
          </a:xfrm>
          <a:prstGeom prst="rect">
            <a:avLst/>
          </a:prstGeom>
          <a:ln w="28575">
            <a:noFill/>
          </a:ln>
        </p:spPr>
      </p:pic>
      <p:sp>
        <p:nvSpPr>
          <p:cNvPr id="28" name="Graphic 212">
            <a:extLst>
              <a:ext uri="{FF2B5EF4-FFF2-40B4-BE49-F238E27FC236}">
                <a16:creationId xmlns:a16="http://schemas.microsoft.com/office/drawing/2014/main" id="{A753B935-E3DD-466D-BFAC-68E0BE02D0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1971" y="858936"/>
            <a:ext cx="693403" cy="693403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A8D274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30" name="Graphic 212">
            <a:extLst>
              <a:ext uri="{FF2B5EF4-FFF2-40B4-BE49-F238E27FC236}">
                <a16:creationId xmlns:a16="http://schemas.microsoft.com/office/drawing/2014/main" id="{FB034F26-4148-4B59-B493-14D7A9A8B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1971" y="858936"/>
            <a:ext cx="693403" cy="693403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A8D274">
              <a:alpha val="30000"/>
            </a:srgb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32" name="Graphic 185">
            <a:extLst>
              <a:ext uri="{FF2B5EF4-FFF2-40B4-BE49-F238E27FC236}">
                <a16:creationId xmlns:a16="http://schemas.microsoft.com/office/drawing/2014/main" id="{5E6BB5FD-DB7B-4BE3-BA45-1EF042115E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428634" y="5987064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929FF76-4B3A-4294-BE6E-B507B22D1B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53C18A4-10CC-4E91-A8A2-D5368972A1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356AC2F-73E0-44FD-B346-A209D274D3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95A85581-9712-414C-82D4-2FE96ACB2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B0828F2-35E7-4424-8082-6C258B676E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90329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Vízibicikli kölcsönző</vt:lpstr>
      <vt:lpstr>A képek:</vt:lpstr>
      <vt:lpstr>A nav menü:</vt:lpstr>
      <vt:lpstr>A szolgáltatások:</vt:lpstr>
      <vt:lpstr>A vélemények</vt:lpstr>
      <vt:lpstr>Elérhetőség</vt:lpstr>
      <vt:lpstr>A Foglalási Űrlap</vt:lpstr>
      <vt:lpstr>Foglalás sikeressége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254</cp:revision>
  <dcterms:created xsi:type="dcterms:W3CDTF">2026-09-27T11:00:21Z</dcterms:created>
  <dcterms:modified xsi:type="dcterms:W3CDTF">2026-09-27T17:11:17Z</dcterms:modified>
</cp:coreProperties>
</file>